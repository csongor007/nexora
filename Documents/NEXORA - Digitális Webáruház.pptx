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C805A-34EB-43A3-A2AC-BE779A3E1AFF}" type="datetimeFigureOut">
              <a:rPr lang="hu-HU" smtClean="0"/>
              <a:t>2026. 03. 19.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8C9B2A91-F63E-4106-914C-0606B08FC51B}" type="slidenum">
              <a:rPr lang="hu-HU" smtClean="0"/>
              <a:t>‹#›</a:t>
            </a:fld>
            <a:endParaRPr lang="hu-HU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5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C805A-34EB-43A3-A2AC-BE779A3E1AFF}" type="datetimeFigureOut">
              <a:rPr lang="hu-HU" smtClean="0"/>
              <a:t>2026. 03. 19.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B2A91-F63E-4106-914C-0606B08FC51B}" type="slidenum">
              <a:rPr lang="hu-HU" smtClean="0"/>
              <a:t>‹#›</a:t>
            </a:fld>
            <a:endParaRPr lang="hu-HU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663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C805A-34EB-43A3-A2AC-BE779A3E1AFF}" type="datetimeFigureOut">
              <a:rPr lang="hu-HU" smtClean="0"/>
              <a:t>2026. 03. 19.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B2A91-F63E-4106-914C-0606B08FC51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30010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C805A-34EB-43A3-A2AC-BE779A3E1AFF}" type="datetimeFigureOut">
              <a:rPr lang="hu-HU" smtClean="0"/>
              <a:t>2026. 03. 19.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B2A91-F63E-4106-914C-0606B08FC51B}" type="slidenum">
              <a:rPr lang="hu-HU" smtClean="0"/>
              <a:t>‹#›</a:t>
            </a:fld>
            <a:endParaRPr lang="hu-HU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482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C805A-34EB-43A3-A2AC-BE779A3E1AFF}" type="datetimeFigureOut">
              <a:rPr lang="hu-HU" smtClean="0"/>
              <a:t>2026. 03. 19.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B2A91-F63E-4106-914C-0606B08FC51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99798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C805A-34EB-43A3-A2AC-BE779A3E1AFF}" type="datetimeFigureOut">
              <a:rPr lang="hu-HU" smtClean="0"/>
              <a:t>2026. 03. 19.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B2A91-F63E-4106-914C-0606B08FC51B}" type="slidenum">
              <a:rPr lang="hu-HU" smtClean="0"/>
              <a:t>‹#›</a:t>
            </a:fld>
            <a:endParaRPr lang="hu-HU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904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C805A-34EB-43A3-A2AC-BE779A3E1AFF}" type="datetimeFigureOut">
              <a:rPr lang="hu-HU" smtClean="0"/>
              <a:t>2026. 03. 19.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B2A91-F63E-4106-914C-0606B08FC51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66627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C805A-34EB-43A3-A2AC-BE779A3E1AFF}" type="datetimeFigureOut">
              <a:rPr lang="hu-HU" smtClean="0"/>
              <a:t>2026. 03. 19.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B2A91-F63E-4106-914C-0606B08FC51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731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C805A-34EB-43A3-A2AC-BE779A3E1AFF}" type="datetimeFigureOut">
              <a:rPr lang="hu-HU" smtClean="0"/>
              <a:t>2026. 03. 19.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B2A91-F63E-4106-914C-0606B08FC51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52370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C805A-34EB-43A3-A2AC-BE779A3E1AFF}" type="datetimeFigureOut">
              <a:rPr lang="hu-HU" smtClean="0"/>
              <a:t>2026. 03. 19.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B2A91-F63E-4106-914C-0606B08FC51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75107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C805A-34EB-43A3-A2AC-BE779A3E1AFF}" type="datetimeFigureOut">
              <a:rPr lang="hu-HU" smtClean="0"/>
              <a:t>2026. 03. 19.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B2A91-F63E-4106-914C-0606B08FC51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5142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61C805A-34EB-43A3-A2AC-BE779A3E1AFF}" type="datetimeFigureOut">
              <a:rPr lang="hu-HU" smtClean="0"/>
              <a:t>2026. 03. 19.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9B2A91-F63E-4106-914C-0606B08FC51B}" type="slidenum">
              <a:rPr lang="hu-HU" smtClean="0"/>
              <a:t>‹#›</a:t>
            </a:fld>
            <a:endParaRPr lang="hu-HU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922996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A63B5F9-D26B-2827-CC82-22D99D282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1808" y="587706"/>
            <a:ext cx="5518066" cy="2268559"/>
          </a:xfrm>
        </p:spPr>
        <p:txBody>
          <a:bodyPr>
            <a:normAutofit fontScale="90000"/>
          </a:bodyPr>
          <a:lstStyle/>
          <a:p>
            <a:r>
              <a:rPr lang="hu-HU" b="1" dirty="0"/>
              <a:t>- NEXORA - Digitális Webáruház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3603D8C-9E2D-A406-FD44-26EDD524CB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Digitális termékek online értékesítése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FD1877A2-49FD-9698-2DD0-5E5D39F3B990}"/>
              </a:ext>
            </a:extLst>
          </p:cNvPr>
          <p:cNvSpPr txBox="1"/>
          <p:nvPr/>
        </p:nvSpPr>
        <p:spPr>
          <a:xfrm>
            <a:off x="5132438" y="5346964"/>
            <a:ext cx="29974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hu-HU" dirty="0"/>
              <a:t>Készítette: </a:t>
            </a:r>
            <a:r>
              <a:rPr lang="hu-HU" dirty="0" err="1"/>
              <a:t>Kerkai</a:t>
            </a:r>
            <a:r>
              <a:rPr lang="hu-HU" dirty="0"/>
              <a:t> Levente</a:t>
            </a:r>
            <a:br>
              <a:rPr lang="hu-HU" dirty="0"/>
            </a:br>
            <a:r>
              <a:rPr lang="hu-HU" dirty="0"/>
              <a:t>Gaál Patrik</a:t>
            </a:r>
          </a:p>
          <a:p>
            <a:pPr algn="r"/>
            <a:r>
              <a:rPr lang="hu-HU" dirty="0"/>
              <a:t>		    Tamás Csongor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46EF5629-C6F5-7972-B511-940EDB76B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366" y="1758190"/>
            <a:ext cx="6566280" cy="334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989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C391F038-97C2-0B1B-A715-5311FE46EBC2}"/>
              </a:ext>
            </a:extLst>
          </p:cNvPr>
          <p:cNvSpPr txBox="1"/>
          <p:nvPr/>
        </p:nvSpPr>
        <p:spPr>
          <a:xfrm>
            <a:off x="1091380" y="1928589"/>
            <a:ext cx="9832258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5400"/>
              </a:spcAft>
              <a:buFont typeface="Arial" panose="020B0604020202020204" pitchFamily="34" charset="0"/>
              <a:buChar char="•"/>
            </a:pPr>
            <a:r>
              <a:rPr lang="hu-HU" sz="2400" dirty="0"/>
              <a:t>A </a:t>
            </a:r>
            <a:r>
              <a:rPr lang="hu-HU" sz="2400" dirty="0" err="1"/>
              <a:t>Nexora</a:t>
            </a:r>
            <a:r>
              <a:rPr lang="hu-HU" sz="2400" dirty="0"/>
              <a:t> egy modern, Node.js alapú digitális webáruház, amely szoftverek, licenszek, játékok és ajándékkártyák online értékesítésére szolgál.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hu-HU" sz="2400" dirty="0"/>
              <a:t>A rendszer lehetővé teszi a felhasználók számára a termékek böngészését, kosárba helyezését, és a megrendelések leadását – mindezt egy </a:t>
            </a:r>
            <a:r>
              <a:rPr lang="hu-HU" sz="2400" b="1" u="sng" dirty="0"/>
              <a:t>letisztult, reszponzív</a:t>
            </a:r>
            <a:r>
              <a:rPr lang="hu-HU" sz="2400" dirty="0"/>
              <a:t> felületen keresztül.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65B493AC-825F-21D1-0D2F-669A0D4857A8}"/>
              </a:ext>
            </a:extLst>
          </p:cNvPr>
          <p:cNvSpPr txBox="1"/>
          <p:nvPr/>
        </p:nvSpPr>
        <p:spPr>
          <a:xfrm>
            <a:off x="1091380" y="285135"/>
            <a:ext cx="40489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600" b="1" u="sng" dirty="0"/>
              <a:t>1. A szoftver célja</a:t>
            </a:r>
          </a:p>
          <a:p>
            <a:endParaRPr lang="hu-HU" sz="3600" dirty="0"/>
          </a:p>
        </p:txBody>
      </p:sp>
    </p:spTree>
    <p:extLst>
      <p:ext uri="{BB962C8B-B14F-4D97-AF65-F5344CB8AC3E}">
        <p14:creationId xmlns:p14="http://schemas.microsoft.com/office/powerpoint/2010/main" val="2125182685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E83B0DD6-E492-97FC-69D0-2056615D8801}"/>
              </a:ext>
            </a:extLst>
          </p:cNvPr>
          <p:cNvSpPr txBox="1"/>
          <p:nvPr/>
        </p:nvSpPr>
        <p:spPr>
          <a:xfrm>
            <a:off x="1012557" y="275303"/>
            <a:ext cx="5083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600" b="1" u="sng" dirty="0"/>
              <a:t>1.1 Funkcionális célok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58C464C6-D404-31C7-CB4E-9A726B3C5F61}"/>
              </a:ext>
            </a:extLst>
          </p:cNvPr>
          <p:cNvSpPr txBox="1"/>
          <p:nvPr/>
        </p:nvSpPr>
        <p:spPr>
          <a:xfrm>
            <a:off x="1012557" y="1286727"/>
            <a:ext cx="81955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/>
              <a:t>A </a:t>
            </a:r>
            <a:r>
              <a:rPr lang="hu-HU" sz="2400" dirty="0" err="1"/>
              <a:t>Nexora</a:t>
            </a:r>
            <a:r>
              <a:rPr lang="hu-HU" sz="2400" dirty="0"/>
              <a:t> rendszer az alábbi főbb funkciókat valósítja meg:</a:t>
            </a:r>
          </a:p>
          <a:p>
            <a:endParaRPr lang="hu-HU" sz="2400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0A51902C-537E-F53B-7C02-9C619366F172}"/>
              </a:ext>
            </a:extLst>
          </p:cNvPr>
          <p:cNvSpPr txBox="1"/>
          <p:nvPr/>
        </p:nvSpPr>
        <p:spPr>
          <a:xfrm>
            <a:off x="1140957" y="2770239"/>
            <a:ext cx="9910085" cy="346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hu-HU" sz="2400" dirty="0"/>
              <a:t>Felhasználói regisztráció és bejelentkezés (session-alapú hitelesítés)</a:t>
            </a:r>
          </a:p>
          <a:p>
            <a:pPr marL="285750" lvl="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hu-HU" sz="2400" dirty="0"/>
              <a:t>Termékkatalógus böngészése JSON alapú adatforrásból</a:t>
            </a:r>
          </a:p>
          <a:p>
            <a:pPr marL="285750" lvl="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hu-HU" sz="2400" dirty="0"/>
              <a:t>Kosárkezelés (</a:t>
            </a:r>
            <a:r>
              <a:rPr lang="hu-HU" sz="2400" dirty="0" err="1"/>
              <a:t>localStorage</a:t>
            </a:r>
            <a:r>
              <a:rPr lang="hu-HU" sz="2400" dirty="0"/>
              <a:t> alapú, kliens oldalon)</a:t>
            </a:r>
          </a:p>
          <a:p>
            <a:pPr marL="285750" lvl="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hu-HU" sz="2400" dirty="0"/>
              <a:t>Megrendelés leadása és adatbázisba mentése</a:t>
            </a:r>
          </a:p>
          <a:p>
            <a:pPr marL="285750" lvl="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hu-HU" sz="2400" dirty="0"/>
              <a:t>Aktivációs kulcs generálás minden megrendelt termékhez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302745411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26942343-DCA3-5511-B328-2D1F87E175AC}"/>
              </a:ext>
            </a:extLst>
          </p:cNvPr>
          <p:cNvSpPr txBox="1"/>
          <p:nvPr/>
        </p:nvSpPr>
        <p:spPr>
          <a:xfrm>
            <a:off x="2713702" y="2319168"/>
            <a:ext cx="751184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hu-HU" sz="2400" dirty="0"/>
              <a:t>Rendelési előzmények megtekintése</a:t>
            </a:r>
          </a:p>
          <a:p>
            <a:pPr marL="285750" lvl="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hu-HU" sz="2400" dirty="0"/>
              <a:t>Megrendelések letöltése TXT/ZIP formátumban</a:t>
            </a:r>
          </a:p>
          <a:p>
            <a:pPr marL="285750" lvl="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hu-HU" sz="2400" dirty="0"/>
              <a:t>Kapcsolatfelvételi űrlap</a:t>
            </a:r>
          </a:p>
          <a:p>
            <a:pPr marL="285750" lvl="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hu-HU" sz="2400" dirty="0"/>
              <a:t>ÁSZF és GYIK oldal</a:t>
            </a:r>
          </a:p>
          <a:p>
            <a:pPr marL="285750" lvl="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hu-HU" sz="2400" dirty="0"/>
              <a:t>Adminisztrációs funkciók (jelszóváltoztatás, profil)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87483CE5-CA3B-4DCF-4E13-989CC681A67F}"/>
              </a:ext>
            </a:extLst>
          </p:cNvPr>
          <p:cNvSpPr txBox="1"/>
          <p:nvPr/>
        </p:nvSpPr>
        <p:spPr>
          <a:xfrm>
            <a:off x="1022556" y="11030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3600" b="1" u="sng" dirty="0"/>
              <a:t>1.1 Funkcionális célok</a:t>
            </a:r>
          </a:p>
        </p:txBody>
      </p:sp>
    </p:spTree>
    <p:extLst>
      <p:ext uri="{BB962C8B-B14F-4D97-AF65-F5344CB8AC3E}">
        <p14:creationId xmlns:p14="http://schemas.microsoft.com/office/powerpoint/2010/main" val="4193835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5F0C8970-CD83-90CF-1E8E-6B163441BEC2}"/>
              </a:ext>
            </a:extLst>
          </p:cNvPr>
          <p:cNvSpPr txBox="1"/>
          <p:nvPr/>
        </p:nvSpPr>
        <p:spPr>
          <a:xfrm>
            <a:off x="1032387" y="78658"/>
            <a:ext cx="4852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600" b="1" dirty="0"/>
              <a:t>2. </a:t>
            </a:r>
            <a:r>
              <a:rPr lang="hu-HU" sz="3600" b="1" u="sng" dirty="0"/>
              <a:t>Backend</a:t>
            </a:r>
            <a:r>
              <a:rPr lang="hu-HU" sz="3600" b="1" dirty="0"/>
              <a:t> – index.js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16436C34-74B7-23F7-50E1-0E8C837BC12B}"/>
              </a:ext>
            </a:extLst>
          </p:cNvPr>
          <p:cNvSpPr txBox="1"/>
          <p:nvPr/>
        </p:nvSpPr>
        <p:spPr>
          <a:xfrm>
            <a:off x="1032387" y="1199536"/>
            <a:ext cx="100092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A szerver belépési pontja az index.js fájl, amely az Express alkalmazást inicializálja és konfigurálja. A főbb feladatai: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3FF65A55-184B-2C00-663B-50CF73A958FF}"/>
              </a:ext>
            </a:extLst>
          </p:cNvPr>
          <p:cNvSpPr txBox="1"/>
          <p:nvPr/>
        </p:nvSpPr>
        <p:spPr>
          <a:xfrm>
            <a:off x="1706287" y="2505080"/>
            <a:ext cx="8357420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hu-HU" sz="2400" dirty="0"/>
              <a:t>Express szerver indítása a 3000-es </a:t>
            </a:r>
            <a:r>
              <a:rPr lang="hu-HU" sz="2400" dirty="0" err="1"/>
              <a:t>porton</a:t>
            </a:r>
            <a:endParaRPr lang="hu-HU" sz="2400" dirty="0"/>
          </a:p>
          <a:p>
            <a:pPr marL="285750" lvl="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hu-HU" sz="2400" dirty="0" err="1"/>
              <a:t>Middleware</a:t>
            </a:r>
            <a:r>
              <a:rPr lang="hu-HU" sz="2400" dirty="0"/>
              <a:t>-ek beállítása (body-parser, </a:t>
            </a:r>
            <a:r>
              <a:rPr lang="hu-HU" sz="2400" dirty="0" err="1"/>
              <a:t>cors</a:t>
            </a:r>
            <a:r>
              <a:rPr lang="hu-HU" sz="2400" dirty="0"/>
              <a:t>, </a:t>
            </a:r>
            <a:r>
              <a:rPr lang="hu-HU" sz="2400" dirty="0" err="1"/>
              <a:t>express</a:t>
            </a:r>
            <a:r>
              <a:rPr lang="hu-HU" sz="2400" dirty="0"/>
              <a:t>-session)</a:t>
            </a:r>
          </a:p>
          <a:p>
            <a:pPr marL="285750" lvl="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hu-HU" sz="2400" dirty="0"/>
              <a:t>EJS </a:t>
            </a:r>
            <a:r>
              <a:rPr lang="hu-HU" sz="2400" dirty="0" err="1"/>
              <a:t>view</a:t>
            </a:r>
            <a:r>
              <a:rPr lang="hu-HU" sz="2400" dirty="0"/>
              <a:t> </a:t>
            </a:r>
            <a:r>
              <a:rPr lang="hu-HU" sz="2400" dirty="0" err="1"/>
              <a:t>engine</a:t>
            </a:r>
            <a:r>
              <a:rPr lang="hu-HU" sz="2400" dirty="0"/>
              <a:t> konfigurálása</a:t>
            </a:r>
          </a:p>
          <a:p>
            <a:pPr marL="285750" lvl="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hu-HU" sz="2400" dirty="0"/>
              <a:t>Összes REST API végpont definiálása</a:t>
            </a:r>
          </a:p>
          <a:p>
            <a:pPr marL="285750" lvl="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hu-HU" sz="2400" dirty="0" err="1"/>
              <a:t>Prisma</a:t>
            </a:r>
            <a:r>
              <a:rPr lang="hu-HU" sz="2400" dirty="0"/>
              <a:t> ORM inicializálása és adatbázis-kapcsolat kezelése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hu-HU" sz="2400" dirty="0"/>
              <a:t>Session-alapú </a:t>
            </a:r>
            <a:r>
              <a:rPr lang="hu-HU" sz="2400" dirty="0" err="1"/>
              <a:t>autentikáció</a:t>
            </a:r>
            <a:r>
              <a:rPr lang="hu-HU" sz="2400" dirty="0"/>
              <a:t> és </a:t>
            </a:r>
            <a:r>
              <a:rPr lang="hu-HU" sz="2400" dirty="0" err="1"/>
              <a:t>authMiddleware</a:t>
            </a: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339288501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94FBF461-C5F3-4EDD-3EF5-16FAA195B969}"/>
              </a:ext>
            </a:extLst>
          </p:cNvPr>
          <p:cNvSpPr txBox="1"/>
          <p:nvPr/>
        </p:nvSpPr>
        <p:spPr>
          <a:xfrm>
            <a:off x="1032387" y="78658"/>
            <a:ext cx="4852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600" b="1" dirty="0"/>
              <a:t>2. </a:t>
            </a:r>
            <a:r>
              <a:rPr lang="hu-HU" sz="3600" b="1" u="sng" dirty="0"/>
              <a:t>Backend</a:t>
            </a:r>
            <a:r>
              <a:rPr lang="hu-HU" sz="3600" b="1" dirty="0"/>
              <a:t> – index.js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38070060-3498-3839-077A-920BCAF322DB}"/>
              </a:ext>
            </a:extLst>
          </p:cNvPr>
          <p:cNvSpPr txBox="1"/>
          <p:nvPr/>
        </p:nvSpPr>
        <p:spPr>
          <a:xfrm>
            <a:off x="952878" y="937925"/>
            <a:ext cx="10354219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hu-HU" sz="2800" dirty="0"/>
              <a:t>Néhány példa:</a:t>
            </a:r>
          </a:p>
          <a:p>
            <a:r>
              <a:rPr lang="hu-HU" sz="2800" dirty="0"/>
              <a:t>Regisztrációs folyamat: </a:t>
            </a:r>
            <a:r>
              <a:rPr lang="hu-HU" sz="2800" dirty="0" err="1"/>
              <a:t>bcrypt</a:t>
            </a:r>
            <a:r>
              <a:rPr lang="hu-HU" sz="2800" dirty="0"/>
              <a:t> </a:t>
            </a:r>
            <a:r>
              <a:rPr lang="hu-HU" sz="2800" dirty="0" err="1"/>
              <a:t>hash</a:t>
            </a:r>
            <a:r>
              <a:rPr lang="hu-HU" sz="2800" dirty="0"/>
              <a:t> → </a:t>
            </a:r>
            <a:r>
              <a:rPr lang="hu-HU" sz="2800" dirty="0" err="1"/>
              <a:t>Prisma</a:t>
            </a:r>
            <a:r>
              <a:rPr lang="hu-HU" sz="2800" dirty="0"/>
              <a:t> </a:t>
            </a:r>
            <a:r>
              <a:rPr lang="hu-HU" sz="2800" dirty="0" err="1"/>
              <a:t>create</a:t>
            </a:r>
            <a:r>
              <a:rPr lang="hu-HU" sz="2800" dirty="0"/>
              <a:t> → session beállítás.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604E5E94-4398-1739-DD37-1DA04C361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692" y="2156702"/>
            <a:ext cx="6121635" cy="444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136161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54C18E7C-839B-0EE6-7B0E-6CA9FC6FA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311" y="1986504"/>
            <a:ext cx="5563376" cy="3238952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29B4AF7D-B620-7D27-EB80-5BC351E9BA5B}"/>
              </a:ext>
            </a:extLst>
          </p:cNvPr>
          <p:cNvSpPr txBox="1"/>
          <p:nvPr/>
        </p:nvSpPr>
        <p:spPr>
          <a:xfrm>
            <a:off x="1032387" y="78658"/>
            <a:ext cx="4852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600" b="1" dirty="0"/>
              <a:t>2. </a:t>
            </a:r>
            <a:r>
              <a:rPr lang="hu-HU" sz="3600" b="1" u="sng" dirty="0"/>
              <a:t>Backend</a:t>
            </a:r>
            <a:r>
              <a:rPr lang="hu-HU" sz="3600" b="1" dirty="0"/>
              <a:t> – index.js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A2D8628F-9222-C07B-C834-88B7333F992D}"/>
              </a:ext>
            </a:extLst>
          </p:cNvPr>
          <p:cNvSpPr txBox="1"/>
          <p:nvPr/>
        </p:nvSpPr>
        <p:spPr>
          <a:xfrm>
            <a:off x="5453034" y="1094136"/>
            <a:ext cx="12859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/>
              <a:t>Logout</a:t>
            </a:r>
          </a:p>
        </p:txBody>
      </p:sp>
    </p:spTree>
    <p:extLst>
      <p:ext uri="{BB962C8B-B14F-4D97-AF65-F5344CB8AC3E}">
        <p14:creationId xmlns:p14="http://schemas.microsoft.com/office/powerpoint/2010/main" val="1156660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AEE1D0A5-5B1F-B934-DEED-12A692A79995}"/>
              </a:ext>
            </a:extLst>
          </p:cNvPr>
          <p:cNvSpPr txBox="1"/>
          <p:nvPr/>
        </p:nvSpPr>
        <p:spPr>
          <a:xfrm>
            <a:off x="1032387" y="78658"/>
            <a:ext cx="85544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600" b="1" dirty="0"/>
              <a:t>3. Adatbáziskezelés – </a:t>
            </a:r>
            <a:r>
              <a:rPr lang="hu-HU" sz="3600" b="1" u="sng" dirty="0" err="1"/>
              <a:t>MariaDB</a:t>
            </a:r>
            <a:r>
              <a:rPr lang="hu-HU" sz="3600" b="1" u="sng" dirty="0"/>
              <a:t>/</a:t>
            </a:r>
            <a:r>
              <a:rPr lang="hu-HU" sz="3600" b="1" u="sng" dirty="0" err="1"/>
              <a:t>Prisma</a:t>
            </a:r>
            <a:endParaRPr lang="hu-HU" sz="3600" b="1" u="sng" dirty="0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CFA13DDD-C697-B9D9-7A06-5017901C2D45}"/>
              </a:ext>
            </a:extLst>
          </p:cNvPr>
          <p:cNvSpPr txBox="1"/>
          <p:nvPr/>
        </p:nvSpPr>
        <p:spPr>
          <a:xfrm>
            <a:off x="1229032" y="1366684"/>
            <a:ext cx="98912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hu-HU" sz="2400" dirty="0"/>
              <a:t>Az adatbázis modelleket a </a:t>
            </a:r>
            <a:r>
              <a:rPr lang="hu-HU" sz="2400" dirty="0" err="1"/>
              <a:t>Prisma</a:t>
            </a:r>
            <a:r>
              <a:rPr lang="hu-HU" sz="2400" dirty="0"/>
              <a:t> ORM definiálja a </a:t>
            </a:r>
            <a:r>
              <a:rPr lang="hu-HU" sz="2400" dirty="0" err="1"/>
              <a:t>prisma</a:t>
            </a:r>
            <a:r>
              <a:rPr lang="hu-HU" sz="2400" dirty="0"/>
              <a:t>/</a:t>
            </a:r>
            <a:r>
              <a:rPr lang="hu-HU" sz="2400" dirty="0" err="1"/>
              <a:t>schema.prisma</a:t>
            </a:r>
            <a:r>
              <a:rPr lang="hu-HU" sz="2400" dirty="0"/>
              <a:t> fájlban. Az adatbázis </a:t>
            </a:r>
            <a:r>
              <a:rPr lang="hu-HU" sz="2400" dirty="0" err="1"/>
              <a:t>MySQL</a:t>
            </a:r>
            <a:r>
              <a:rPr lang="hu-HU" sz="2400" dirty="0"/>
              <a:t> / </a:t>
            </a:r>
            <a:r>
              <a:rPr lang="hu-HU" sz="2400" dirty="0" err="1"/>
              <a:t>MariaDB</a:t>
            </a:r>
            <a:r>
              <a:rPr lang="hu-HU" sz="2400" dirty="0"/>
              <a:t> kompatibilis.</a:t>
            </a:r>
          </a:p>
          <a:p>
            <a:endParaRPr lang="hu-HU" sz="2400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E974E09D-4958-A108-ED8A-5C92EACE9C1F}"/>
              </a:ext>
            </a:extLst>
          </p:cNvPr>
          <p:cNvSpPr txBox="1"/>
          <p:nvPr/>
        </p:nvSpPr>
        <p:spPr>
          <a:xfrm>
            <a:off x="1071716" y="2752170"/>
            <a:ext cx="68227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u="sng" dirty="0" err="1"/>
              <a:t>Prisma</a:t>
            </a:r>
            <a:r>
              <a:rPr lang="hu-HU" sz="2800" u="sng" dirty="0"/>
              <a:t> ORM (</a:t>
            </a:r>
            <a:r>
              <a:rPr lang="hu-HU" sz="2800" u="sng" dirty="0" err="1"/>
              <a:t>Object-Relational</a:t>
            </a:r>
            <a:r>
              <a:rPr lang="hu-HU" sz="2800" u="sng" dirty="0"/>
              <a:t> </a:t>
            </a:r>
            <a:r>
              <a:rPr lang="hu-HU" sz="2800" u="sng" dirty="0" err="1"/>
              <a:t>Mapping</a:t>
            </a:r>
            <a:r>
              <a:rPr lang="hu-HU" sz="2800" u="sng" dirty="0"/>
              <a:t>)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365DA31F-2441-E201-8A4A-4C24968E5DDA}"/>
              </a:ext>
            </a:extLst>
          </p:cNvPr>
          <p:cNvSpPr txBox="1"/>
          <p:nvPr/>
        </p:nvSpPr>
        <p:spPr>
          <a:xfrm>
            <a:off x="1032387" y="3539780"/>
            <a:ext cx="5978013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400" dirty="0"/>
              <a:t>Híd a Node.js kód és az adatbázis között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400" dirty="0"/>
              <a:t>SQL helyett JavaScript objektumokat használunk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400" dirty="0" err="1"/>
              <a:t>Type-safe</a:t>
            </a:r>
            <a:r>
              <a:rPr lang="hu-HU" sz="2400" dirty="0"/>
              <a:t> (típusbiztos) – hibákat fordításkor kapunk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400" dirty="0"/>
              <a:t>Automatikus migráció kezelés Egyszerűsíti a kódot: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0BA92AD5-8E30-90B1-351A-2E23E0307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6839" y="5178690"/>
            <a:ext cx="5296639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04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34F4B3D2-73B5-8C7A-C532-E86F7F638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7894" y="804342"/>
            <a:ext cx="6136212" cy="5444057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01F0C348-62DC-C08D-91AE-A1DD34471F7F}"/>
              </a:ext>
            </a:extLst>
          </p:cNvPr>
          <p:cNvSpPr txBox="1"/>
          <p:nvPr/>
        </p:nvSpPr>
        <p:spPr>
          <a:xfrm>
            <a:off x="1032387" y="78658"/>
            <a:ext cx="70155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600" b="1" dirty="0"/>
              <a:t>3. Adatbáziskezelés – </a:t>
            </a:r>
            <a:r>
              <a:rPr lang="hu-HU" sz="3600" b="1" u="sng" dirty="0"/>
              <a:t>Felépítés</a:t>
            </a:r>
          </a:p>
        </p:txBody>
      </p:sp>
    </p:spTree>
    <p:extLst>
      <p:ext uri="{BB962C8B-B14F-4D97-AF65-F5344CB8AC3E}">
        <p14:creationId xmlns:p14="http://schemas.microsoft.com/office/powerpoint/2010/main" val="2313271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E245D3EE-38EE-673A-CAD3-5A8B2D01D860}"/>
              </a:ext>
            </a:extLst>
          </p:cNvPr>
          <p:cNvSpPr txBox="1"/>
          <p:nvPr/>
        </p:nvSpPr>
        <p:spPr>
          <a:xfrm>
            <a:off x="1032387" y="78658"/>
            <a:ext cx="49552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600" b="1" dirty="0"/>
              <a:t>4. </a:t>
            </a:r>
            <a:r>
              <a:rPr lang="hu-HU" sz="3600" b="1" u="sng" dirty="0"/>
              <a:t>Frontend</a:t>
            </a:r>
            <a:r>
              <a:rPr lang="hu-HU" sz="3600" b="1" dirty="0"/>
              <a:t> felépítése</a:t>
            </a:r>
            <a:endParaRPr lang="hu-HU" sz="3600" b="1" u="sng" dirty="0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81A59662-6E32-B3FA-DD8D-D5A957D1D9C7}"/>
              </a:ext>
            </a:extLst>
          </p:cNvPr>
          <p:cNvSpPr txBox="1"/>
          <p:nvPr/>
        </p:nvSpPr>
        <p:spPr>
          <a:xfrm>
            <a:off x="1032387" y="1071716"/>
            <a:ext cx="7386959" cy="3077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hu-HU" sz="2400" b="1" dirty="0"/>
              <a:t>EJS (</a:t>
            </a:r>
            <a:r>
              <a:rPr lang="hu-HU" sz="2400" b="1" dirty="0" err="1"/>
              <a:t>Template</a:t>
            </a:r>
            <a:r>
              <a:rPr lang="hu-HU" sz="2400" b="1" dirty="0"/>
              <a:t> </a:t>
            </a:r>
            <a:r>
              <a:rPr lang="hu-HU" sz="2400" b="1" dirty="0" err="1"/>
              <a:t>Engine</a:t>
            </a:r>
            <a:r>
              <a:rPr lang="hu-HU" sz="2400" b="1" dirty="0"/>
              <a:t>)</a:t>
            </a:r>
            <a:endParaRPr lang="hu-HU" sz="24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dirty="0"/>
              <a:t>Szerver-oldali HTML </a:t>
            </a:r>
            <a:r>
              <a:rPr lang="hu-HU" sz="2400" dirty="0" err="1"/>
              <a:t>renderelés</a:t>
            </a:r>
            <a:endParaRPr lang="hu-HU" sz="24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dirty="0"/>
              <a:t>Dinamikus tartalom beillesztése (&lt;%= változó %&gt;)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dirty="0" err="1"/>
              <a:t>Újrafelhasználható</a:t>
            </a:r>
            <a:r>
              <a:rPr lang="hu-HU" sz="2400" dirty="0"/>
              <a:t> komponensek (</a:t>
            </a:r>
            <a:r>
              <a:rPr lang="hu-HU" sz="2400" dirty="0" err="1"/>
              <a:t>header</a:t>
            </a:r>
            <a:r>
              <a:rPr lang="hu-HU" sz="2400" dirty="0"/>
              <a:t>, </a:t>
            </a:r>
            <a:r>
              <a:rPr lang="hu-HU" sz="2400" dirty="0" err="1"/>
              <a:t>footer</a:t>
            </a:r>
            <a:r>
              <a:rPr lang="hu-HU" sz="2400" dirty="0"/>
              <a:t>)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dirty="0"/>
              <a:t>SEO-barát (szerver már kész HTML-t küld)</a:t>
            </a:r>
          </a:p>
          <a:p>
            <a:endParaRPr lang="hu-HU" sz="2400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E4634171-42F3-07AA-3CBB-8E43E6ADC66C}"/>
              </a:ext>
            </a:extLst>
          </p:cNvPr>
          <p:cNvSpPr txBox="1"/>
          <p:nvPr/>
        </p:nvSpPr>
        <p:spPr>
          <a:xfrm>
            <a:off x="1032387" y="4149482"/>
            <a:ext cx="7478329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hu-HU" sz="2400" b="1" dirty="0" err="1"/>
              <a:t>Vanilla</a:t>
            </a:r>
            <a:r>
              <a:rPr lang="hu-HU" sz="2400" b="1" dirty="0"/>
              <a:t> JavaScript (Kliens oldal)</a:t>
            </a:r>
            <a:endParaRPr lang="hu-HU" sz="24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dirty="0"/>
              <a:t>Keretrendszer nélküli, tiszta JS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dirty="0"/>
              <a:t>Gyors, kis </a:t>
            </a:r>
            <a:r>
              <a:rPr lang="hu-HU" sz="2400" dirty="0" err="1"/>
              <a:t>bundle</a:t>
            </a:r>
            <a:r>
              <a:rPr lang="hu-HU" sz="2400" dirty="0"/>
              <a:t> méret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dirty="0"/>
              <a:t>Teljes kontroll a kód felett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dirty="0"/>
              <a:t>Moduláris felépítés (cart.js, auth-popup.js, filters.js)</a:t>
            </a:r>
          </a:p>
        </p:txBody>
      </p:sp>
    </p:spTree>
    <p:extLst>
      <p:ext uri="{BB962C8B-B14F-4D97-AF65-F5344CB8AC3E}">
        <p14:creationId xmlns:p14="http://schemas.microsoft.com/office/powerpoint/2010/main" val="1675247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BEA6919A-C78A-9788-FDA9-F62594805A0D}"/>
              </a:ext>
            </a:extLst>
          </p:cNvPr>
          <p:cNvSpPr txBox="1"/>
          <p:nvPr/>
        </p:nvSpPr>
        <p:spPr>
          <a:xfrm>
            <a:off x="1032387" y="78658"/>
            <a:ext cx="97513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600" b="1" dirty="0"/>
              <a:t>4. </a:t>
            </a:r>
            <a:r>
              <a:rPr lang="hu-HU" sz="3600" b="1" u="sng" dirty="0"/>
              <a:t>Frontend</a:t>
            </a:r>
            <a:r>
              <a:rPr lang="hu-HU" sz="3600" b="1" dirty="0"/>
              <a:t> - </a:t>
            </a:r>
            <a:r>
              <a:rPr lang="hu-HU" sz="3600" dirty="0"/>
              <a:t>Kliens-oldali JavaScript modulok</a:t>
            </a:r>
            <a:endParaRPr lang="hu-HU" sz="3600" b="1" u="sng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001637EE-E7D9-1A34-AEAC-5B0FD3930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140" y="1114102"/>
            <a:ext cx="9465873" cy="5198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815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A92373A4-39BF-539E-BC98-7635577D13A7}"/>
              </a:ext>
            </a:extLst>
          </p:cNvPr>
          <p:cNvSpPr txBox="1"/>
          <p:nvPr/>
        </p:nvSpPr>
        <p:spPr>
          <a:xfrm>
            <a:off x="1032387" y="78658"/>
            <a:ext cx="96487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600" b="1" dirty="0"/>
              <a:t>4. </a:t>
            </a:r>
            <a:r>
              <a:rPr lang="hu-HU" sz="3600" dirty="0"/>
              <a:t>Frontend működés – </a:t>
            </a:r>
            <a:r>
              <a:rPr lang="hu-HU" sz="3600" u="sng" dirty="0"/>
              <a:t>Példa</a:t>
            </a:r>
            <a:r>
              <a:rPr lang="hu-HU" sz="3600" dirty="0"/>
              <a:t> (Kosárba rakás)</a:t>
            </a:r>
            <a:endParaRPr lang="hu-HU" sz="3600" b="1" u="sng" dirty="0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2ABF55B9-81EC-9A3C-2520-2C7E61C7CF91}"/>
              </a:ext>
            </a:extLst>
          </p:cNvPr>
          <p:cNvSpPr txBox="1"/>
          <p:nvPr/>
        </p:nvSpPr>
        <p:spPr>
          <a:xfrm>
            <a:off x="3244645" y="1406012"/>
            <a:ext cx="68387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b="1" dirty="0"/>
              <a:t>1. Felhasználó kattint</a:t>
            </a:r>
            <a:r>
              <a:rPr lang="hu-HU" sz="2800" dirty="0"/>
              <a:t> "Kosárba" gombra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6393956D-68AF-C5F6-D13E-28C937AFB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645" y="2300851"/>
            <a:ext cx="5649113" cy="933580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943B115B-C906-144D-8C5C-66CB4715B3BE}"/>
              </a:ext>
            </a:extLst>
          </p:cNvPr>
          <p:cNvSpPr txBox="1"/>
          <p:nvPr/>
        </p:nvSpPr>
        <p:spPr>
          <a:xfrm>
            <a:off x="3244645" y="3547162"/>
            <a:ext cx="4919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b="1" dirty="0"/>
              <a:t>2. Validáció</a:t>
            </a:r>
            <a:r>
              <a:rPr lang="hu-HU" sz="2800" dirty="0"/>
              <a:t> – Max 10 termék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9C4B23E5-89B5-A139-08D3-3C1FDAC67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4644" y="4232618"/>
            <a:ext cx="5649113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858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8CB80A5B-BC96-E8A1-B222-748274C6A0D1}"/>
              </a:ext>
            </a:extLst>
          </p:cNvPr>
          <p:cNvSpPr txBox="1"/>
          <p:nvPr/>
        </p:nvSpPr>
        <p:spPr>
          <a:xfrm>
            <a:off x="1032387" y="78658"/>
            <a:ext cx="96487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600" b="1" dirty="0"/>
              <a:t>4. </a:t>
            </a:r>
            <a:r>
              <a:rPr lang="hu-HU" sz="3600" dirty="0"/>
              <a:t>Frontend működés – </a:t>
            </a:r>
            <a:r>
              <a:rPr lang="hu-HU" sz="3600" u="sng" dirty="0"/>
              <a:t>Példa</a:t>
            </a:r>
            <a:r>
              <a:rPr lang="hu-HU" sz="3600" dirty="0"/>
              <a:t> (Kosárba rakás)</a:t>
            </a:r>
            <a:endParaRPr lang="hu-HU" sz="3600" b="1" u="sng" dirty="0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BFCF98AC-03C2-89C5-3736-CCFB49AC7097}"/>
              </a:ext>
            </a:extLst>
          </p:cNvPr>
          <p:cNvSpPr txBox="1"/>
          <p:nvPr/>
        </p:nvSpPr>
        <p:spPr>
          <a:xfrm>
            <a:off x="3244645" y="1406012"/>
            <a:ext cx="41008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b="1" dirty="0"/>
              <a:t>3. </a:t>
            </a:r>
            <a:r>
              <a:rPr lang="hu-HU" sz="2800" b="1" dirty="0" err="1"/>
              <a:t>localStorage</a:t>
            </a:r>
            <a:r>
              <a:rPr lang="hu-HU" sz="2800" b="1" dirty="0"/>
              <a:t> mentés</a:t>
            </a:r>
            <a:endParaRPr lang="hu-HU" sz="2800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ADCC62FF-B909-DA1D-EE74-C71C2DF5A86A}"/>
              </a:ext>
            </a:extLst>
          </p:cNvPr>
          <p:cNvSpPr txBox="1"/>
          <p:nvPr/>
        </p:nvSpPr>
        <p:spPr>
          <a:xfrm>
            <a:off x="3244645" y="3547162"/>
            <a:ext cx="52549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b="1" dirty="0"/>
              <a:t>4. </a:t>
            </a:r>
            <a:r>
              <a:rPr lang="hu-HU" sz="2800" b="1" dirty="0" err="1"/>
              <a:t>Badge</a:t>
            </a:r>
            <a:r>
              <a:rPr lang="hu-HU" sz="2800" b="1" dirty="0"/>
              <a:t> frissítés</a:t>
            </a:r>
            <a:r>
              <a:rPr lang="hu-HU" sz="2800" dirty="0"/>
              <a:t> – 🛒 (szám)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0252EB4F-ED14-2084-0A23-323457BD1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645" y="2267307"/>
            <a:ext cx="6668431" cy="685896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C0B62CEA-22BB-0567-6EBB-33B3E0D3F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4645" y="4440472"/>
            <a:ext cx="6154009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240899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9B212C5E-B9EC-E932-3B22-DC1A13B8C357}"/>
              </a:ext>
            </a:extLst>
          </p:cNvPr>
          <p:cNvSpPr txBox="1"/>
          <p:nvPr/>
        </p:nvSpPr>
        <p:spPr>
          <a:xfrm>
            <a:off x="1032387" y="78658"/>
            <a:ext cx="78790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600" b="1" u="sng" dirty="0"/>
              <a:t>5. Korlátok és bővítési lehetőségek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09998D90-8C8F-D272-0E56-A052567CE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442" y="1308003"/>
            <a:ext cx="6827115" cy="424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822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2974C84F-0F54-E386-7285-85C53CAE7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338" y="794360"/>
            <a:ext cx="5725324" cy="5906324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51319A91-8ECE-5CA4-C7F8-051A9A6C83DF}"/>
              </a:ext>
            </a:extLst>
          </p:cNvPr>
          <p:cNvSpPr txBox="1"/>
          <p:nvPr/>
        </p:nvSpPr>
        <p:spPr>
          <a:xfrm>
            <a:off x="1032387" y="78658"/>
            <a:ext cx="78790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600" b="1" u="sng" dirty="0"/>
              <a:t>5. Korlátok és bővítési lehetőségek</a:t>
            </a:r>
          </a:p>
        </p:txBody>
      </p:sp>
    </p:spTree>
    <p:extLst>
      <p:ext uri="{BB962C8B-B14F-4D97-AF65-F5344CB8AC3E}">
        <p14:creationId xmlns:p14="http://schemas.microsoft.com/office/powerpoint/2010/main" val="3926886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8C7EBBBA-F0C5-C8CA-88E3-199CF5BC7DDB}"/>
              </a:ext>
            </a:extLst>
          </p:cNvPr>
          <p:cNvSpPr txBox="1"/>
          <p:nvPr/>
        </p:nvSpPr>
        <p:spPr>
          <a:xfrm>
            <a:off x="2261456" y="2921168"/>
            <a:ext cx="766908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6000" dirty="0"/>
              <a:t>Köszönjük a figyelmet</a:t>
            </a:r>
          </a:p>
        </p:txBody>
      </p:sp>
    </p:spTree>
    <p:extLst>
      <p:ext uri="{BB962C8B-B14F-4D97-AF65-F5344CB8AC3E}">
        <p14:creationId xmlns:p14="http://schemas.microsoft.com/office/powerpoint/2010/main" val="1636606973"/>
      </p:ext>
    </p:extLst>
  </p:cSld>
  <p:clrMapOvr>
    <a:masterClrMapping/>
  </p:clrMapOvr>
  <p:transition spd="slow">
    <p:randomBar dir="vert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192</TotalTime>
  <Words>449</Words>
  <Application>Microsoft Office PowerPoint</Application>
  <PresentationFormat>Szélesvásznú</PresentationFormat>
  <Paragraphs>62</Paragraphs>
  <Slides>16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16</vt:i4>
      </vt:variant>
    </vt:vector>
  </HeadingPairs>
  <TitlesOfParts>
    <vt:vector size="21" baseType="lpstr">
      <vt:lpstr>Arial</vt:lpstr>
      <vt:lpstr>MS Shell Dlg 2</vt:lpstr>
      <vt:lpstr>Wingdings</vt:lpstr>
      <vt:lpstr>Wingdings 3</vt:lpstr>
      <vt:lpstr>Madison</vt:lpstr>
      <vt:lpstr>- NEXORA - Digitális Webáruház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Tamás Csongor</dc:creator>
  <cp:lastModifiedBy>Tamás Csongor</cp:lastModifiedBy>
  <cp:revision>3</cp:revision>
  <dcterms:created xsi:type="dcterms:W3CDTF">2026-02-22T17:33:59Z</dcterms:created>
  <dcterms:modified xsi:type="dcterms:W3CDTF">2026-03-19T08:03:49Z</dcterms:modified>
</cp:coreProperties>
</file>